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7C9248-D141-4E3E-A1F2-52AEFADF3B14}" v="1" dt="2026-08-13T14:13:18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468B8"/>
                </a:solidFill>
                <a:latin typeface="Aptos"/>
              </a:rPr>
              <a:t>INFOSYS SPRINGBOARD  •  PROJECT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7132320" cy="1754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IN" sz="3800" b="1" dirty="0">
                <a:solidFill>
                  <a:srgbClr val="182A40"/>
                </a:solidFill>
                <a:latin typeface="Aptos"/>
              </a:rPr>
              <a:t>AI-Driven Smart Hiring Platform with Candidate Matching Copilot</a:t>
            </a:r>
            <a:endParaRPr sz="38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2F3B48"/>
                </a:solidFill>
                <a:latin typeface="Aptos"/>
              </a:rPr>
              <a:t>An intelligent AI-powered platform for resume analysis, contextual candidate matching, interview assistance, and data-backed hiring.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709160"/>
            <a:ext cx="1508760" cy="502920"/>
          </a:xfrm>
          <a:prstGeom prst="roundRect">
            <a:avLst/>
          </a:prstGeom>
          <a:solidFill>
            <a:srgbClr val="F6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rgbClr val="182A40"/>
                </a:solidFill>
                <a:latin typeface="Aptos"/>
              </a:rPr>
              <a:t>TEAM C</a:t>
            </a:r>
            <a:endParaRPr sz="12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0" y="1143000"/>
            <a:ext cx="2651760" cy="7498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80" y="130759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307592"/>
            <a:ext cx="175564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2A40"/>
                </a:solidFill>
                <a:latin typeface="Aptos"/>
              </a:rPr>
              <a:t>RESUME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1901952"/>
            <a:ext cx="0" cy="246888"/>
          </a:xfrm>
          <a:prstGeom prst="line">
            <a:avLst/>
          </a:prstGeom>
          <a:ln w="25400">
            <a:solidFill>
              <a:srgbClr val="24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0" y="2194560"/>
            <a:ext cx="2651760" cy="7498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0" y="2359152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2359152"/>
            <a:ext cx="175564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2A40"/>
                </a:solidFill>
                <a:latin typeface="Aptos"/>
              </a:rPr>
              <a:t>MATCH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953512"/>
            <a:ext cx="0" cy="246888"/>
          </a:xfrm>
          <a:prstGeom prst="line">
            <a:avLst/>
          </a:prstGeom>
          <a:ln w="25400">
            <a:solidFill>
              <a:srgbClr val="1B9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3246120"/>
            <a:ext cx="2651760" cy="7498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0" y="341071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3410712"/>
            <a:ext cx="175564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2A40"/>
                </a:solidFill>
                <a:latin typeface="Aptos"/>
              </a:rPr>
              <a:t>INTERVIEW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55480" y="4005072"/>
            <a:ext cx="0" cy="246888"/>
          </a:xfrm>
          <a:prstGeom prst="line">
            <a:avLst/>
          </a:prstGeom>
          <a:ln w="25400">
            <a:solidFill>
              <a:srgbClr val="24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0" y="4297679"/>
            <a:ext cx="2651760" cy="7498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80" y="4462271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462271"/>
            <a:ext cx="175564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82A40"/>
                </a:solidFill>
                <a:latin typeface="Aptos"/>
              </a:rPr>
              <a:t>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540084"/>
            <a:ext cx="27432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677584"/>
                </a:solidFill>
                <a:latin typeface="Aptos"/>
              </a:rPr>
              <a:t>Recruitment  •  Screening  •  Interviews  •  Analytics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EBA7F6-4809-1408-5F06-638A230B4680}"/>
              </a:ext>
            </a:extLst>
          </p:cNvPr>
          <p:cNvSpPr txBox="1"/>
          <p:nvPr/>
        </p:nvSpPr>
        <p:spPr>
          <a:xfrm>
            <a:off x="685800" y="5452050"/>
            <a:ext cx="64008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solidFill>
                  <a:srgbClr val="677584"/>
                </a:solidFill>
                <a:latin typeface="Aptos"/>
              </a:rPr>
              <a:t>Tanvi </a:t>
            </a:r>
            <a:r>
              <a:rPr lang="en-IN" sz="1500" b="1" dirty="0" err="1">
                <a:solidFill>
                  <a:srgbClr val="677584"/>
                </a:solidFill>
                <a:latin typeface="Aptos"/>
              </a:rPr>
              <a:t>Gaonkhadkar</a:t>
            </a:r>
            <a:r>
              <a:rPr lang="en-US" sz="1500" b="1" dirty="0">
                <a:solidFill>
                  <a:srgbClr val="677584"/>
                </a:solidFill>
                <a:latin typeface="Aptos"/>
              </a:rPr>
              <a:t> •</a:t>
            </a:r>
            <a:r>
              <a:rPr lang="en-IN" sz="1500" b="1" dirty="0">
                <a:solidFill>
                  <a:srgbClr val="677584"/>
                </a:solidFill>
                <a:latin typeface="Aptos"/>
              </a:rPr>
              <a:t> </a:t>
            </a:r>
            <a:r>
              <a:rPr lang="en-IN" sz="1500" b="1" dirty="0" err="1">
                <a:solidFill>
                  <a:srgbClr val="677584"/>
                </a:solidFill>
                <a:latin typeface="Aptos"/>
              </a:rPr>
              <a:t>Maganuru</a:t>
            </a:r>
            <a:r>
              <a:rPr lang="en-IN" sz="1500" b="1" dirty="0">
                <a:solidFill>
                  <a:srgbClr val="677584"/>
                </a:solidFill>
                <a:latin typeface="Aptos"/>
              </a:rPr>
              <a:t> </a:t>
            </a:r>
            <a:r>
              <a:rPr lang="en-IN" sz="1500" b="1" dirty="0" err="1">
                <a:solidFill>
                  <a:srgbClr val="677584"/>
                </a:solidFill>
                <a:latin typeface="Aptos"/>
              </a:rPr>
              <a:t>Saisreeja</a:t>
            </a:r>
            <a:r>
              <a:rPr lang="en-IN" sz="1500" b="1" dirty="0">
                <a:solidFill>
                  <a:srgbClr val="677584"/>
                </a:solidFill>
                <a:latin typeface="Aptos"/>
              </a:rPr>
              <a:t> </a:t>
            </a:r>
            <a:r>
              <a:rPr lang="en-US" sz="1500" b="1" dirty="0">
                <a:solidFill>
                  <a:srgbClr val="677584"/>
                </a:solidFill>
                <a:latin typeface="Aptos"/>
              </a:rPr>
              <a:t> •  Hasini </a:t>
            </a:r>
            <a:r>
              <a:rPr lang="en-US" sz="1500" b="1" dirty="0" err="1">
                <a:solidFill>
                  <a:srgbClr val="677584"/>
                </a:solidFill>
                <a:latin typeface="Aptos"/>
              </a:rPr>
              <a:t>Doddigarla</a:t>
            </a:r>
            <a:r>
              <a:rPr lang="en-US" sz="1500" b="1" dirty="0">
                <a:solidFill>
                  <a:srgbClr val="677584"/>
                </a:solidFill>
                <a:latin typeface="Aptos"/>
              </a:rPr>
              <a:t> •</a:t>
            </a:r>
          </a:p>
          <a:p>
            <a:r>
              <a:rPr lang="en-US" sz="1500" b="1" dirty="0">
                <a:solidFill>
                  <a:srgbClr val="677584"/>
                </a:solidFill>
                <a:latin typeface="Aptos"/>
              </a:rPr>
              <a:t>Sharvari </a:t>
            </a:r>
            <a:r>
              <a:rPr lang="en-US" sz="1500" b="1" dirty="0" err="1">
                <a:solidFill>
                  <a:srgbClr val="677584"/>
                </a:solidFill>
                <a:latin typeface="Aptos"/>
              </a:rPr>
              <a:t>Dakhare</a:t>
            </a:r>
            <a:r>
              <a:rPr lang="en-US" sz="1500" b="1" dirty="0">
                <a:solidFill>
                  <a:srgbClr val="677584"/>
                </a:solidFill>
                <a:latin typeface="Aptos"/>
              </a:rPr>
              <a:t> </a:t>
            </a:r>
            <a:r>
              <a:rPr lang="en-US" sz="1600" b="1" dirty="0">
                <a:solidFill>
                  <a:srgbClr val="677584"/>
                </a:solidFill>
                <a:latin typeface="Aptos"/>
              </a:rPr>
              <a:t> •  </a:t>
            </a:r>
            <a:r>
              <a:rPr lang="en-US" sz="1600" b="1" dirty="0" err="1">
                <a:solidFill>
                  <a:srgbClr val="677584"/>
                </a:solidFill>
                <a:latin typeface="Aptos"/>
              </a:rPr>
              <a:t>Triambiga</a:t>
            </a:r>
            <a:r>
              <a:rPr lang="en-US" sz="1600" b="1" dirty="0">
                <a:solidFill>
                  <a:srgbClr val="677584"/>
                </a:solidFill>
                <a:latin typeface="Aptos"/>
              </a:rPr>
              <a:t> Krubhakaran </a:t>
            </a:r>
            <a:endParaRPr lang="en-US" sz="1500" b="1" dirty="0">
              <a:solidFill>
                <a:srgbClr val="677584"/>
              </a:solidFill>
              <a:latin typeface="Aptos"/>
            </a:endParaRPr>
          </a:p>
          <a:p>
            <a:r>
              <a:rPr lang="en-US" sz="1500" b="1" dirty="0">
                <a:solidFill>
                  <a:srgbClr val="677584"/>
                </a:solidFill>
                <a:latin typeface="Aptos"/>
              </a:rPr>
              <a:t>Project Mentor : </a:t>
            </a:r>
            <a:r>
              <a:rPr lang="en-US" sz="1500" b="1" dirty="0" err="1">
                <a:solidFill>
                  <a:srgbClr val="677584"/>
                </a:solidFill>
                <a:latin typeface="Aptos"/>
              </a:rPr>
              <a:t>Rojar</a:t>
            </a:r>
            <a:r>
              <a:rPr lang="en-US" sz="1500" b="1" dirty="0">
                <a:solidFill>
                  <a:srgbClr val="677584"/>
                </a:solidFill>
                <a:latin typeface="Apto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2468B8"/>
                </a:solidFill>
                <a:latin typeface="Aptos"/>
              </a:rPr>
              <a:t>INDUSTRY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82A40"/>
                </a:solidFill>
                <a:latin typeface="Aptos"/>
              </a:rPr>
              <a:t>Recruitment Bottlenecks &amp;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>
                <a:solidFill>
                  <a:srgbClr val="677584"/>
                </a:solidFill>
                <a:latin typeface="Aptos"/>
              </a:rPr>
              <a:t>AI-Driven Smart Hiring Platform  •  </a:t>
            </a:r>
            <a:r>
              <a:rPr lang="en-IN" sz="800" dirty="0">
                <a:solidFill>
                  <a:srgbClr val="677584"/>
                </a:solidFill>
                <a:latin typeface="Aptos"/>
              </a:rPr>
              <a:t>Team C</a:t>
            </a:r>
            <a:endParaRPr sz="800" b="0" dirty="0">
              <a:solidFill>
                <a:srgbClr val="67758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77584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176479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804" y="1716785"/>
            <a:ext cx="43616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dirty="0">
                <a:solidFill>
                  <a:srgbClr val="182A40"/>
                </a:solidFill>
                <a:latin typeface="Aptos"/>
              </a:rPr>
              <a:t>Time-Consuming Resume 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800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Manual reading of unstructured PDFs increases recruiter workload and can delay time-to-hire.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1764792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764792"/>
            <a:ext cx="43616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dirty="0">
                <a:solidFill>
                  <a:srgbClr val="182A40"/>
                </a:solidFill>
                <a:latin typeface="Aptos"/>
              </a:rPr>
              <a:t>High Applicant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800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Large application volumes make it difficult to identify top candidates accurately and consistently.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59" y="3913631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913631"/>
            <a:ext cx="43616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dirty="0">
                <a:solidFill>
                  <a:srgbClr val="182A40"/>
                </a:solidFill>
                <a:latin typeface="Aptos"/>
              </a:rPr>
              <a:t>Interview Preparation Overhead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4800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Creating tailored technical questions and evaluation rubrics requires substantial manual effort.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49039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46520" y="3913631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3913631"/>
            <a:ext cx="43616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dirty="0">
                <a:solidFill>
                  <a:srgbClr val="182A40"/>
                </a:solidFill>
                <a:latin typeface="Aptos"/>
              </a:rPr>
              <a:t>Limited Data-Driven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34840"/>
            <a:ext cx="4800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Fragmented recruitment information can lead to subjective decisions and weak lifecycle visibility.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989320"/>
            <a:ext cx="10927080" cy="329184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062472"/>
            <a:ext cx="105613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182A40"/>
                </a:solidFill>
                <a:latin typeface="Aptos"/>
              </a:rPr>
              <a:t>The opportunity: move from repetitive screening to an intelligent, contextual, data-supported hiring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2468B8"/>
                </a:solidFill>
                <a:latin typeface="Aptos"/>
              </a:rPr>
              <a:t>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82A40"/>
                </a:solidFill>
                <a:latin typeface="Aptos"/>
              </a:rPr>
              <a:t>From Manual Screening to AI-Assisted Hiring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>
                <a:solidFill>
                  <a:srgbClr val="677584"/>
                </a:solidFill>
                <a:latin typeface="Aptos"/>
              </a:rPr>
              <a:t>AI-Driven Smart Hiring Platform  •  </a:t>
            </a:r>
            <a:r>
              <a:rPr lang="en-IN" sz="800" dirty="0">
                <a:solidFill>
                  <a:srgbClr val="677584"/>
                </a:solidFill>
                <a:latin typeface="Aptos"/>
              </a:rPr>
              <a:t>Team C</a:t>
            </a:r>
            <a:endParaRPr sz="800" b="0" dirty="0">
              <a:solidFill>
                <a:srgbClr val="67758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77584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4800600" cy="4251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" y="1954530"/>
            <a:ext cx="43434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dirty="0">
                <a:solidFill>
                  <a:srgbClr val="182A40"/>
                </a:solidFill>
                <a:latin typeface="Aptos"/>
              </a:rPr>
              <a:t>EXISTING RECRUITMENT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4160520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2F3B48"/>
                </a:solidFill>
                <a:latin typeface="Aptos"/>
              </a:defRPr>
            </a:pPr>
            <a:r>
              <a:rPr sz="1600" dirty="0"/>
              <a:t>• Manual resume parsing and keyword-search limitations</a:t>
            </a:r>
          </a:p>
          <a:p>
            <a:pPr>
              <a:spcAft>
                <a:spcPts val="1800"/>
              </a:spcAft>
              <a:defRPr sz="1200">
                <a:solidFill>
                  <a:srgbClr val="2F3B48"/>
                </a:solidFill>
                <a:latin typeface="Aptos"/>
              </a:defRPr>
            </a:pPr>
            <a:r>
              <a:rPr sz="1600" dirty="0"/>
              <a:t>• Slow, repetitive candidate filtering</a:t>
            </a:r>
          </a:p>
          <a:p>
            <a:pPr>
              <a:spcAft>
                <a:spcPts val="1800"/>
              </a:spcAft>
              <a:defRPr sz="1200">
                <a:solidFill>
                  <a:srgbClr val="2F3B48"/>
                </a:solidFill>
                <a:latin typeface="Aptos"/>
              </a:defRPr>
            </a:pPr>
            <a:r>
              <a:rPr sz="1600" dirty="0"/>
              <a:t>• Fragmented tools with limited process automation</a:t>
            </a:r>
          </a:p>
          <a:p>
            <a:pPr>
              <a:spcAft>
                <a:spcPts val="1800"/>
              </a:spcAft>
              <a:defRPr sz="1200">
                <a:solidFill>
                  <a:srgbClr val="2F3B48"/>
                </a:solidFill>
                <a:latin typeface="Aptos"/>
              </a:defRPr>
            </a:pPr>
            <a:r>
              <a:rPr sz="1600" dirty="0"/>
              <a:t>• Subjective evaluation without data-backed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600200"/>
            <a:ext cx="4800600" cy="4251960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3636" y="1954530"/>
            <a:ext cx="43434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dirty="0">
                <a:solidFill>
                  <a:srgbClr val="182A40"/>
                </a:solidFill>
                <a:latin typeface="Aptos"/>
              </a:rPr>
              <a:t>AI COPILOT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331720"/>
            <a:ext cx="416052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2F3B48"/>
                </a:solidFill>
                <a:latin typeface="Aptos"/>
              </a:defRPr>
            </a:pPr>
            <a:r>
              <a:rPr sz="1600" dirty="0"/>
              <a:t>• Automated NLP-driven resume extraction and contextual analysis</a:t>
            </a:r>
          </a:p>
          <a:p>
            <a:pPr>
              <a:spcAft>
                <a:spcPts val="1800"/>
              </a:spcAft>
              <a:defRPr sz="1200">
                <a:solidFill>
                  <a:srgbClr val="2F3B48"/>
                </a:solidFill>
                <a:latin typeface="Aptos"/>
              </a:defRPr>
            </a:pPr>
            <a:r>
              <a:rPr sz="1600" dirty="0"/>
              <a:t>• Semantic candidate matching against job descriptions</a:t>
            </a:r>
          </a:p>
          <a:p>
            <a:pPr>
              <a:spcAft>
                <a:spcPts val="1800"/>
              </a:spcAft>
              <a:defRPr sz="1200">
                <a:solidFill>
                  <a:srgbClr val="2F3B48"/>
                </a:solidFill>
                <a:latin typeface="Aptos"/>
              </a:defRPr>
            </a:pPr>
            <a:r>
              <a:rPr sz="1600" dirty="0"/>
              <a:t>• Real-time Interview Copilot and evaluation support</a:t>
            </a:r>
          </a:p>
          <a:p>
            <a:pPr>
              <a:spcAft>
                <a:spcPts val="1800"/>
              </a:spcAft>
              <a:defRPr sz="1200">
                <a:solidFill>
                  <a:srgbClr val="2F3B48"/>
                </a:solidFill>
                <a:latin typeface="Aptos"/>
              </a:defRPr>
            </a:pPr>
            <a:r>
              <a:rPr sz="1600" dirty="0"/>
              <a:t>• Unified hiring analytics for data-backed decisions</a:t>
            </a:r>
          </a:p>
        </p:txBody>
      </p:sp>
      <p:sp>
        <p:nvSpPr>
          <p:cNvPr id="14" name="Oval 13"/>
          <p:cNvSpPr/>
          <p:nvPr/>
        </p:nvSpPr>
        <p:spPr>
          <a:xfrm>
            <a:off x="5696712" y="3040380"/>
            <a:ext cx="777240" cy="77724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40680" y="3429000"/>
            <a:ext cx="246888" cy="0"/>
          </a:xfrm>
          <a:prstGeom prst="line">
            <a:avLst/>
          </a:prstGeom>
          <a:ln w="25400">
            <a:solidFill>
              <a:srgbClr val="24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28232" y="3413957"/>
            <a:ext cx="292608" cy="0"/>
          </a:xfrm>
          <a:prstGeom prst="line">
            <a:avLst/>
          </a:prstGeom>
          <a:ln w="25400">
            <a:solidFill>
              <a:srgbClr val="24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2468B8"/>
                </a:solidFill>
                <a:latin typeface="Aptos"/>
              </a:rPr>
              <a:t>STRATEGIC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82A40"/>
                </a:solidFill>
                <a:latin typeface="Aptos"/>
              </a:rPr>
              <a:t>Core 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>
                <a:solidFill>
                  <a:srgbClr val="677584"/>
                </a:solidFill>
                <a:latin typeface="Aptos"/>
              </a:rPr>
              <a:t>AI-Driven Smart Hiring Platform  •  </a:t>
            </a:r>
            <a:r>
              <a:rPr lang="en-IN" sz="800" dirty="0">
                <a:solidFill>
                  <a:srgbClr val="677584"/>
                </a:solidFill>
                <a:latin typeface="Aptos"/>
              </a:rPr>
              <a:t>Team C</a:t>
            </a:r>
            <a:endParaRPr sz="800" b="0" dirty="0">
              <a:solidFill>
                <a:srgbClr val="67758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77584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181051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810512"/>
            <a:ext cx="253288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82A40"/>
                </a:solidFill>
                <a:latin typeface="Aptos"/>
              </a:rPr>
              <a:t>Automate Resume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947"/>
            <a:ext cx="2971800" cy="3131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400" b="1" dirty="0"/>
              <a:t>Objective</a:t>
            </a:r>
            <a:br>
              <a:rPr lang="en-IN" sz="1200" dirty="0"/>
            </a:br>
            <a:r>
              <a:rPr lang="en-IN" sz="1400" dirty="0"/>
              <a:t>Reduce the manual effort involved in reviewing resumes.</a:t>
            </a:r>
          </a:p>
          <a:p>
            <a:endParaRPr lang="en-IN" sz="1200" dirty="0"/>
          </a:p>
          <a:p>
            <a:r>
              <a:rPr lang="en-IN" sz="1400" b="1" dirty="0"/>
              <a:t>What it does</a:t>
            </a:r>
            <a:endParaRPr lang="en-IN" sz="1400" dirty="0"/>
          </a:p>
          <a:p>
            <a:pPr lvl="0"/>
            <a:r>
              <a:rPr lang="en-IN" sz="1400" dirty="0"/>
              <a:t>Processes uploaded resumes</a:t>
            </a:r>
          </a:p>
          <a:p>
            <a:pPr lvl="0"/>
            <a:r>
              <a:rPr lang="en-IN" sz="1400" dirty="0"/>
              <a:t>Extracts candidate skills</a:t>
            </a:r>
          </a:p>
          <a:p>
            <a:pPr lvl="0"/>
            <a:r>
              <a:rPr lang="en-IN" sz="1400" dirty="0"/>
              <a:t>Identifies work history and qualifications</a:t>
            </a:r>
          </a:p>
          <a:p>
            <a:pPr lvl="0"/>
            <a:r>
              <a:rPr lang="en-IN" sz="1400" dirty="0"/>
              <a:t>Uses NLP for structured candidate information</a:t>
            </a:r>
          </a:p>
          <a:p>
            <a:pPr lvl="0"/>
            <a:endParaRPr lang="en-IN" sz="1200" dirty="0"/>
          </a:p>
          <a:p>
            <a:r>
              <a:rPr lang="en-IN" sz="1400" b="1" dirty="0"/>
              <a:t>Benefit</a:t>
            </a:r>
            <a:br>
              <a:rPr lang="en-IN" sz="1400" dirty="0"/>
            </a:br>
            <a:r>
              <a:rPr lang="en-IN" sz="1400" dirty="0"/>
              <a:t>→ Faster and more consistent initial screening</a:t>
            </a:r>
          </a:p>
          <a:p>
            <a:pPr algn="l"/>
            <a:endParaRPr sz="1150" b="0" dirty="0">
              <a:solidFill>
                <a:srgbClr val="2F3B48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68680" y="5482422"/>
            <a:ext cx="2907792" cy="73152"/>
          </a:xfrm>
          <a:prstGeom prst="rect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0" y="1810512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1810512"/>
            <a:ext cx="253288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82A40"/>
                </a:solidFill>
                <a:latin typeface="Aptos"/>
              </a:rPr>
              <a:t>Improve Candidate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31720"/>
            <a:ext cx="2971800" cy="3162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400" b="1" dirty="0"/>
              <a:t>Objective</a:t>
            </a:r>
            <a:br>
              <a:rPr lang="en-IN" sz="1200" dirty="0"/>
            </a:br>
            <a:r>
              <a:rPr lang="en-IN" sz="1400" dirty="0"/>
              <a:t>Identify candidates who best fit a specific job requirement.</a:t>
            </a:r>
          </a:p>
          <a:p>
            <a:endParaRPr lang="en-IN" sz="1200" dirty="0"/>
          </a:p>
          <a:p>
            <a:r>
              <a:rPr lang="en-IN" sz="1400" b="1" dirty="0"/>
              <a:t>What it does</a:t>
            </a:r>
            <a:endParaRPr lang="en-IN" sz="1400" dirty="0"/>
          </a:p>
          <a:p>
            <a:pPr lvl="0"/>
            <a:r>
              <a:rPr lang="en-IN" sz="1400" dirty="0" err="1"/>
              <a:t>Analyzes</a:t>
            </a:r>
            <a:r>
              <a:rPr lang="en-IN" sz="1400" dirty="0"/>
              <a:t> job descriptions</a:t>
            </a:r>
          </a:p>
          <a:p>
            <a:pPr lvl="0"/>
            <a:r>
              <a:rPr lang="en-IN" sz="1400" dirty="0"/>
              <a:t>Compares candidate experience with job requirements</a:t>
            </a:r>
          </a:p>
          <a:p>
            <a:pPr lvl="0"/>
            <a:r>
              <a:rPr lang="en-IN" sz="1400" dirty="0"/>
              <a:t>Performs semantic matching</a:t>
            </a:r>
          </a:p>
          <a:p>
            <a:pPr lvl="0"/>
            <a:r>
              <a:rPr lang="en-IN" sz="1400" dirty="0"/>
              <a:t>Generates candidate scores and rankings</a:t>
            </a:r>
          </a:p>
          <a:p>
            <a:pPr lvl="0"/>
            <a:endParaRPr lang="en-IN" sz="1400" dirty="0"/>
          </a:p>
          <a:p>
            <a:r>
              <a:rPr lang="en-IN" sz="1400" b="1" dirty="0"/>
              <a:t>Benefit</a:t>
            </a:r>
            <a:br>
              <a:rPr lang="en-IN" sz="1200" dirty="0"/>
            </a:br>
            <a:r>
              <a:rPr lang="en-IN" sz="1400" dirty="0"/>
              <a:t>→ Helps recruiters identify suitable candidates more efficiently</a:t>
            </a:r>
          </a:p>
          <a:p>
            <a:pPr algn="l"/>
            <a:endParaRPr sz="1150" b="0" dirty="0">
              <a:solidFill>
                <a:srgbClr val="2F3B48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42104" y="5484783"/>
            <a:ext cx="2907792" cy="73152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38159" y="16459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21039" y="181051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1" y="1810512"/>
            <a:ext cx="253288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82A40"/>
                </a:solidFill>
                <a:latin typeface="Aptos"/>
              </a:rPr>
              <a:t>Support Interview Lifecycle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331720"/>
            <a:ext cx="2971800" cy="27392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400" b="1" dirty="0"/>
              <a:t>Objective</a:t>
            </a:r>
            <a:br>
              <a:rPr lang="en-IN" sz="1200" dirty="0"/>
            </a:br>
            <a:r>
              <a:rPr lang="en-IN" sz="1400" dirty="0"/>
              <a:t>Assist interviewers throughout the interview process.</a:t>
            </a:r>
          </a:p>
          <a:p>
            <a:endParaRPr lang="en-IN" sz="1200" dirty="0"/>
          </a:p>
          <a:p>
            <a:r>
              <a:rPr lang="en-IN" sz="1400" b="1" dirty="0"/>
              <a:t>What it does</a:t>
            </a:r>
            <a:endParaRPr lang="en-IN" sz="1400" dirty="0"/>
          </a:p>
          <a:p>
            <a:pPr lvl="0"/>
            <a:r>
              <a:rPr lang="en-IN" sz="1400" dirty="0"/>
              <a:t>Supports interview question generation</a:t>
            </a:r>
          </a:p>
          <a:p>
            <a:pPr lvl="0"/>
            <a:r>
              <a:rPr lang="en-IN" sz="1400" dirty="0"/>
              <a:t>Provides Interview Copilot assistance</a:t>
            </a:r>
          </a:p>
          <a:p>
            <a:pPr lvl="0"/>
            <a:r>
              <a:rPr lang="en-IN" sz="1400" dirty="0" err="1"/>
              <a:t>Analyzes</a:t>
            </a:r>
            <a:r>
              <a:rPr lang="en-IN" sz="1400" dirty="0"/>
              <a:t> candidate responses</a:t>
            </a:r>
          </a:p>
          <a:p>
            <a:pPr lvl="0"/>
            <a:r>
              <a:rPr lang="en-IN" sz="1400" dirty="0"/>
              <a:t>Supports evaluation</a:t>
            </a:r>
          </a:p>
          <a:p>
            <a:pPr lvl="0"/>
            <a:endParaRPr lang="en-IN" sz="1200" dirty="0"/>
          </a:p>
          <a:p>
            <a:r>
              <a:rPr lang="en-IN" sz="1400" b="1" dirty="0"/>
              <a:t>Benefit</a:t>
            </a:r>
            <a:br>
              <a:rPr lang="en-IN" sz="1200" dirty="0"/>
            </a:br>
            <a:r>
              <a:rPr lang="en-IN" sz="1400" dirty="0"/>
              <a:t>→ More structured and consistent interviews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94191" y="5482422"/>
            <a:ext cx="2907792" cy="73152"/>
          </a:xfrm>
          <a:prstGeom prst="rect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82A40"/>
                </a:solidFill>
                <a:latin typeface="Aptos"/>
              </a:rPr>
              <a:t>Core focus: automate the repetitive work while keeping hiring decisions informed and human-led.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41" y="353824"/>
            <a:ext cx="5427406" cy="892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dirty="0" err="1">
                <a:solidFill>
                  <a:srgbClr val="143964"/>
                </a:solidFill>
                <a:latin typeface="+mj-lt"/>
              </a:rPr>
              <a:t>SmartHire</a:t>
            </a:r>
            <a:r>
              <a:rPr sz="2800" b="1" dirty="0">
                <a:solidFill>
                  <a:srgbClr val="143964"/>
                </a:solidFill>
                <a:latin typeface="+mj-lt"/>
              </a:rPr>
              <a:t> – AI Recruitment Copilot</a:t>
            </a:r>
            <a:endParaRPr lang="en-IN" sz="2800" b="1" dirty="0">
              <a:solidFill>
                <a:srgbClr val="143964"/>
              </a:solidFill>
              <a:latin typeface="+mj-lt"/>
            </a:endParaRPr>
          </a:p>
          <a:p>
            <a:pPr algn="ctr"/>
            <a:endParaRPr sz="2400" b="1" dirty="0">
              <a:solidFill>
                <a:srgbClr val="1439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441" y="76825"/>
            <a:ext cx="152704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chemeClr val="accent1"/>
                </a:solidFill>
                <a:latin typeface="Arial Narrow" panose="020B0606020202030204" pitchFamily="34" charset="0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59" y="1705897"/>
            <a:ext cx="1010412" cy="1545336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2D6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9974" y="1764792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dirty="0">
                <a:solidFill>
                  <a:srgbClr val="2D6CAA"/>
                </a:solidFill>
                <a:latin typeface="Aptos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744" y="2221992"/>
            <a:ext cx="9326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ptos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44" y="2491691"/>
            <a:ext cx="93268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dirty="0">
                <a:solidFill>
                  <a:srgbClr val="191919"/>
                </a:solidFill>
                <a:latin typeface="Aptos"/>
              </a:rPr>
              <a:t>(Recruiter /
HR Manager)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8528" y="1199780"/>
            <a:ext cx="1901950" cy="2542623"/>
          </a:xfrm>
          <a:prstGeom prst="roundRect">
            <a:avLst/>
          </a:prstGeom>
          <a:solidFill>
            <a:srgbClr val="F9FBFD"/>
          </a:solidFill>
          <a:ln w="15240">
            <a:solidFill>
              <a:srgbClr val="2D6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1388" y="1317214"/>
            <a:ext cx="1783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2D6CAA"/>
                </a:solidFill>
                <a:latin typeface="Aptos"/>
              </a:rPr>
              <a:t>1.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9405" y="1640266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dirty="0">
                <a:solidFill>
                  <a:srgbClr val="2D6CAA"/>
                </a:solidFill>
                <a:latin typeface="Aptos"/>
              </a:rPr>
              <a:t>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7108" y="2033458"/>
            <a:ext cx="1737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dirty="0">
                <a:solidFill>
                  <a:srgbClr val="191919"/>
                </a:solidFill>
                <a:latin typeface="Aptos"/>
              </a:rPr>
              <a:t>Web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2346148"/>
            <a:ext cx="1737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dirty="0">
                <a:solidFill>
                  <a:srgbClr val="191919"/>
                </a:solidFill>
                <a:latin typeface="Aptos"/>
              </a:rPr>
              <a:t>(</a:t>
            </a:r>
            <a:r>
              <a:rPr sz="950" b="0" dirty="0" err="1">
                <a:solidFill>
                  <a:srgbClr val="191919"/>
                </a:solidFill>
                <a:latin typeface="Aptos"/>
              </a:rPr>
              <a:t>Streamlit</a:t>
            </a:r>
            <a:r>
              <a:rPr sz="950" b="0" dirty="0">
                <a:solidFill>
                  <a:srgbClr val="191919"/>
                </a:solidFill>
                <a:latin typeface="Aptos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1" y="2674619"/>
            <a:ext cx="1600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 dirty="0">
                <a:solidFill>
                  <a:srgbClr val="191919"/>
                </a:solidFill>
                <a:latin typeface="Aptos"/>
              </a:rPr>
              <a:t>• Pages &amp; Interface
• Forms &amp; Inputs
• Data Visualization
• User Interaction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978408"/>
            <a:ext cx="3931909" cy="4018788"/>
          </a:xfrm>
          <a:prstGeom prst="roundRect">
            <a:avLst/>
          </a:prstGeom>
          <a:solidFill>
            <a:srgbClr val="F5FAF6"/>
          </a:solidFill>
          <a:ln w="15240">
            <a:solidFill>
              <a:srgbClr val="699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934248"/>
            <a:ext cx="3429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3E7C4C"/>
                </a:solidFill>
                <a:latin typeface="Aptos"/>
              </a:rPr>
              <a:t>2. BACKEND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1280160"/>
            <a:ext cx="3429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72583" y="1444751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E7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2583" y="1444751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7C4C"/>
                </a:solidFill>
                <a:latin typeface="Aptos"/>
              </a:rPr>
              <a:t>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3" y="137160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91919"/>
                </a:solidFill>
                <a:latin typeface="Aptos"/>
              </a:rPr>
              <a:t>Resume Processing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3" y="1627631"/>
            <a:ext cx="265176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91919"/>
                </a:solidFill>
                <a:latin typeface="Aptos"/>
              </a:rPr>
              <a:t>Extracts text and structured information
from resumes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07992" y="1993392"/>
            <a:ext cx="3429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72583" y="2157984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E7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72583" y="21579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7C4C"/>
                </a:solidFill>
                <a:latin typeface="Aptos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3" y="2084832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dirty="0">
                <a:solidFill>
                  <a:srgbClr val="191919"/>
                </a:solidFill>
                <a:latin typeface="Aptos"/>
              </a:rPr>
              <a:t>Screening &amp; Ranking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3" y="2340864"/>
            <a:ext cx="265176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91919"/>
                </a:solidFill>
                <a:latin typeface="Aptos"/>
              </a:rPr>
              <a:t>Matches candidates with job requirements
and calculates scores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7992" y="2706624"/>
            <a:ext cx="3429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72583" y="2871216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E7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2583" y="287121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7C4C"/>
                </a:solidFill>
                <a:latin typeface="Aptos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9783" y="2798064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91919"/>
                </a:solidFill>
                <a:latin typeface="Aptos"/>
              </a:rPr>
              <a:t>Interview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3" y="3054096"/>
            <a:ext cx="265176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91919"/>
                </a:solidFill>
                <a:latin typeface="Aptos"/>
              </a:rPr>
              <a:t>Generates questions and manages
interview sessions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07992" y="3419856"/>
            <a:ext cx="3429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672583" y="3584448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E7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72583" y="358444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7C4C"/>
                </a:solidFill>
                <a:latin typeface="Aptos"/>
              </a:rPr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3" y="3511296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91919"/>
                </a:solidFill>
                <a:latin typeface="Aptos"/>
              </a:rPr>
              <a:t>Evaluation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9783" y="3767328"/>
            <a:ext cx="265176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91919"/>
                </a:solidFill>
                <a:latin typeface="Aptos"/>
              </a:rPr>
              <a:t>Evaluates answers and generates
feedback &amp; scores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07992" y="4133087"/>
            <a:ext cx="3429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672583" y="4297679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E7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72583" y="4297679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7C4C"/>
                </a:solidFill>
                <a:latin typeface="Aptos"/>
              </a:rPr>
              <a:t>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9783" y="4224527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91919"/>
                </a:solidFill>
                <a:latin typeface="Aptos"/>
              </a:rPr>
              <a:t>Report &amp; Analytics Service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9783" y="4480559"/>
            <a:ext cx="265176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91919"/>
                </a:solidFill>
                <a:latin typeface="Aptos"/>
              </a:rPr>
              <a:t>Generates reports and insights for
decision making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92540" y="1106423"/>
            <a:ext cx="2281428" cy="2950955"/>
          </a:xfrm>
          <a:prstGeom prst="roundRect">
            <a:avLst/>
          </a:prstGeom>
          <a:solidFill>
            <a:srgbClr val="FAF7FC"/>
          </a:solidFill>
          <a:ln w="15240">
            <a:solidFill>
              <a:srgbClr val="7D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79408" y="1411211"/>
            <a:ext cx="20116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5D3782"/>
                </a:solidFill>
                <a:latin typeface="Aptos"/>
              </a:rPr>
              <a:t>3. AI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4312" y="1847088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5D3782"/>
                </a:solidFill>
                <a:latin typeface="Aptos"/>
              </a:rPr>
              <a:t>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2313432"/>
            <a:ext cx="1920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191919"/>
                </a:solidFill>
                <a:latin typeface="Aptos"/>
              </a:rPr>
              <a:t>LLM (Ollama – Llama 3.2)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670048"/>
            <a:ext cx="187451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>
                <a:solidFill>
                  <a:srgbClr val="191919"/>
                </a:solidFill>
                <a:latin typeface="Aptos"/>
              </a:rPr>
              <a:t>• Information Extraction
• Question Generation
• Answer Evaluation
• Feedback Generation
• Final Recommendations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14600" y="5294376"/>
            <a:ext cx="7909560" cy="1234440"/>
          </a:xfrm>
          <a:prstGeom prst="roundRect">
            <a:avLst/>
          </a:prstGeom>
          <a:solidFill>
            <a:srgbClr val="FFFBEF"/>
          </a:solidFill>
          <a:ln w="15240">
            <a:solidFill>
              <a:srgbClr val="D7A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97480" y="5423952"/>
            <a:ext cx="19659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C78E26"/>
                </a:solidFill>
                <a:latin typeface="Aptos"/>
              </a:rPr>
              <a:t>4. DATABASE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4368" y="5742432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C78E26"/>
                </a:solidFill>
                <a:latin typeface="Aptos"/>
              </a:rPr>
              <a:t>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6071616"/>
            <a:ext cx="1737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91919"/>
                </a:solidFill>
                <a:latin typeface="Aptos"/>
              </a:rPr>
              <a:t>SQLite Database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24912" y="6291072"/>
            <a:ext cx="1783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0">
                <a:solidFill>
                  <a:srgbClr val="191919"/>
                </a:solidFill>
                <a:latin typeface="Aptos"/>
              </a:rPr>
              <a:t>Stores all application data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57800" y="5559552"/>
            <a:ext cx="8686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57800" y="5568696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>
                <a:solidFill>
                  <a:srgbClr val="191919"/>
                </a:solidFill>
                <a:latin typeface="Aptos"/>
              </a:rPr>
              <a:t>Users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72200" y="5559552"/>
            <a:ext cx="8686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72200" y="5568696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>
                <a:solidFill>
                  <a:srgbClr val="191919"/>
                </a:solidFill>
                <a:latin typeface="Aptos"/>
              </a:rPr>
              <a:t>Candidates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59752" y="5559552"/>
            <a:ext cx="10972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59752" y="5568696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>
                <a:solidFill>
                  <a:srgbClr val="191919"/>
                </a:solidFill>
                <a:latin typeface="Aptos"/>
              </a:rPr>
              <a:t>Job Descriptions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94192" y="5559552"/>
            <a:ext cx="8686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94192" y="5568696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>
                <a:solidFill>
                  <a:srgbClr val="191919"/>
                </a:solidFill>
                <a:latin typeface="Aptos"/>
              </a:rPr>
              <a:t>Resumes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57800" y="6071616"/>
            <a:ext cx="8686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57800" y="6080759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>
                <a:solidFill>
                  <a:srgbClr val="191919"/>
                </a:solidFill>
                <a:latin typeface="Aptos"/>
              </a:rPr>
              <a:t>Interviews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6071616"/>
            <a:ext cx="10972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72200" y="6080759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>
                <a:solidFill>
                  <a:srgbClr val="191919"/>
                </a:solidFill>
                <a:latin typeface="Aptos"/>
              </a:rPr>
              <a:t>Interview Answers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0" y="6071616"/>
            <a:ext cx="8686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0" y="6080759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>
                <a:solidFill>
                  <a:srgbClr val="191919"/>
                </a:solidFill>
                <a:latin typeface="Aptos"/>
              </a:rPr>
              <a:t>AI Evaluations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58200" y="6071616"/>
            <a:ext cx="8686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58200" y="6080759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>
                <a:solidFill>
                  <a:srgbClr val="191919"/>
                </a:solidFill>
                <a:latin typeface="Aptos"/>
              </a:rPr>
              <a:t>Reports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37159" y="4327619"/>
            <a:ext cx="3227832" cy="84302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748" y="4385395"/>
            <a:ext cx="3429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5A5A5A"/>
                </a:solidFill>
                <a:latin typeface="Aptos"/>
              </a:rPr>
              <a:t>5. EXTERNAL SERVICES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814" y="4814316"/>
            <a:ext cx="1051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dirty="0">
                <a:solidFill>
                  <a:srgbClr val="5A5A5A"/>
                </a:solidFill>
                <a:latin typeface="Aptos"/>
              </a:rPr>
              <a:t>✉  Email
Notifications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8279" y="4814316"/>
            <a:ext cx="1051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5A5A5A"/>
                </a:solidFill>
                <a:latin typeface="Aptos"/>
              </a:rPr>
              <a:t>▦  Calendar
(Scheduling)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21991" y="4813233"/>
            <a:ext cx="1051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dirty="0">
                <a:solidFill>
                  <a:srgbClr val="5A5A5A"/>
                </a:solidFill>
                <a:latin typeface="Aptos"/>
              </a:rPr>
              <a:t>▣  Video Meeting
(Interview Links)</a:t>
            </a:r>
          </a:p>
        </p:txBody>
      </p:sp>
      <p:cxnSp>
        <p:nvCxnSpPr>
          <p:cNvPr id="72" name="Connector 71"/>
          <p:cNvCxnSpPr>
            <a:cxnSpLocks/>
          </p:cNvCxnSpPr>
          <p:nvPr/>
        </p:nvCxnSpPr>
        <p:spPr>
          <a:xfrm>
            <a:off x="1198109" y="2297160"/>
            <a:ext cx="710969" cy="0"/>
          </a:xfrm>
          <a:prstGeom prst="line">
            <a:avLst/>
          </a:prstGeom>
          <a:ln w="1524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cxnSpLocks/>
          </p:cNvCxnSpPr>
          <p:nvPr/>
        </p:nvCxnSpPr>
        <p:spPr>
          <a:xfrm flipH="1">
            <a:off x="1198109" y="2691482"/>
            <a:ext cx="710969" cy="0"/>
          </a:xfrm>
          <a:prstGeom prst="line">
            <a:avLst/>
          </a:prstGeom>
          <a:ln w="1524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cxnSpLocks/>
          </p:cNvCxnSpPr>
          <p:nvPr/>
        </p:nvCxnSpPr>
        <p:spPr>
          <a:xfrm>
            <a:off x="3840480" y="2258568"/>
            <a:ext cx="411480" cy="0"/>
          </a:xfrm>
          <a:prstGeom prst="line">
            <a:avLst/>
          </a:prstGeom>
          <a:ln w="1524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cxnSpLocks/>
          </p:cNvCxnSpPr>
          <p:nvPr/>
        </p:nvCxnSpPr>
        <p:spPr>
          <a:xfrm flipH="1">
            <a:off x="3840480" y="2748411"/>
            <a:ext cx="411480" cy="0"/>
          </a:xfrm>
          <a:prstGeom prst="line">
            <a:avLst/>
          </a:prstGeom>
          <a:ln w="1524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092440" y="2165358"/>
            <a:ext cx="731520" cy="0"/>
          </a:xfrm>
          <a:prstGeom prst="line">
            <a:avLst/>
          </a:prstGeom>
          <a:ln w="1524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8092440" y="2706624"/>
            <a:ext cx="731520" cy="0"/>
          </a:xfrm>
          <a:prstGeom prst="line">
            <a:avLst/>
          </a:prstGeom>
          <a:ln w="1524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cxnSpLocks/>
          </p:cNvCxnSpPr>
          <p:nvPr/>
        </p:nvCxnSpPr>
        <p:spPr>
          <a:xfrm>
            <a:off x="3611867" y="3742403"/>
            <a:ext cx="0" cy="1593760"/>
          </a:xfrm>
          <a:prstGeom prst="line">
            <a:avLst/>
          </a:prstGeom>
          <a:ln w="1397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60" y="5056632"/>
            <a:ext cx="0" cy="246888"/>
          </a:xfrm>
          <a:prstGeom prst="line">
            <a:avLst/>
          </a:prstGeom>
          <a:ln w="1397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>
            <a:cxnSpLocks/>
          </p:cNvCxnSpPr>
          <p:nvPr/>
        </p:nvCxnSpPr>
        <p:spPr>
          <a:xfrm flipH="1">
            <a:off x="9098279" y="4057378"/>
            <a:ext cx="1" cy="1216203"/>
          </a:xfrm>
          <a:prstGeom prst="line">
            <a:avLst/>
          </a:prstGeom>
          <a:ln w="1397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>
            <a:cxnSpLocks/>
          </p:cNvCxnSpPr>
          <p:nvPr/>
        </p:nvCxnSpPr>
        <p:spPr>
          <a:xfrm flipV="1">
            <a:off x="1853464" y="5175504"/>
            <a:ext cx="0" cy="704088"/>
          </a:xfrm>
          <a:prstGeom prst="line">
            <a:avLst/>
          </a:prstGeom>
          <a:ln w="12700">
            <a:solidFill>
              <a:srgbClr val="5A5A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>
            <a:cxnSpLocks/>
          </p:cNvCxnSpPr>
          <p:nvPr/>
        </p:nvCxnSpPr>
        <p:spPr>
          <a:xfrm flipV="1">
            <a:off x="1853464" y="5895048"/>
            <a:ext cx="661136" cy="16548"/>
          </a:xfrm>
          <a:prstGeom prst="line">
            <a:avLst/>
          </a:prstGeom>
          <a:ln w="12700">
            <a:solidFill>
              <a:srgbClr val="5A5A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10270187" y="4306822"/>
            <a:ext cx="1731311" cy="74981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081258" y="4331466"/>
            <a:ext cx="19202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ptos"/>
              </a:rPr>
              <a:t>LEGEND</a:t>
            </a:r>
          </a:p>
        </p:txBody>
      </p:sp>
      <p:cxnSp>
        <p:nvCxnSpPr>
          <p:cNvPr id="85" name="Connector 84"/>
          <p:cNvCxnSpPr>
            <a:cxnSpLocks/>
          </p:cNvCxnSpPr>
          <p:nvPr/>
        </p:nvCxnSpPr>
        <p:spPr>
          <a:xfrm flipV="1">
            <a:off x="10424160" y="4663439"/>
            <a:ext cx="356026" cy="12339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0858498" y="4584540"/>
            <a:ext cx="1143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30" b="0" dirty="0">
                <a:solidFill>
                  <a:srgbClr val="191919"/>
                </a:solidFill>
                <a:latin typeface="Aptos"/>
              </a:rPr>
              <a:t>Data Flow</a:t>
            </a:r>
          </a:p>
        </p:txBody>
      </p:sp>
      <p:cxnSp>
        <p:nvCxnSpPr>
          <p:cNvPr id="87" name="Connector 86"/>
          <p:cNvCxnSpPr>
            <a:cxnSpLocks/>
          </p:cNvCxnSpPr>
          <p:nvPr/>
        </p:nvCxnSpPr>
        <p:spPr>
          <a:xfrm>
            <a:off x="10416392" y="4846221"/>
            <a:ext cx="363794" cy="0"/>
          </a:xfrm>
          <a:prstGeom prst="line">
            <a:avLst/>
          </a:prstGeom>
          <a:ln w="12700">
            <a:solidFill>
              <a:srgbClr val="5A5A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858498" y="4752082"/>
            <a:ext cx="1143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91919"/>
                </a:solidFill>
                <a:latin typeface="Aptos"/>
              </a:rPr>
              <a:t>Integration / Interaction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7799831"/>
            <a:ext cx="113842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>
                <a:solidFill>
                  <a:srgbClr val="5A5A5A"/>
                </a:solidFill>
                <a:latin typeface="Aptos"/>
              </a:rPr>
              <a:t>AI-Driven Smart Hiring Platform  •  Team C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371AB86-7C63-5C39-B8A6-C4EAA13027C1}"/>
              </a:ext>
            </a:extLst>
          </p:cNvPr>
          <p:cNvCxnSpPr/>
          <p:nvPr/>
        </p:nvCxnSpPr>
        <p:spPr>
          <a:xfrm>
            <a:off x="7620" y="89272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2468B8"/>
                </a:solidFill>
                <a:latin typeface="Aptos"/>
              </a:rPr>
              <a:t>TOOLS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82A40"/>
                </a:solidFill>
                <a:latin typeface="Aptos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>
                <a:solidFill>
                  <a:srgbClr val="677584"/>
                </a:solidFill>
                <a:latin typeface="Aptos"/>
              </a:rPr>
              <a:t>AI-Driven Smart Hiring Platform  •  </a:t>
            </a:r>
            <a:r>
              <a:rPr lang="en-IN" sz="800" dirty="0">
                <a:solidFill>
                  <a:srgbClr val="677584"/>
                </a:solidFill>
                <a:latin typeface="Aptos"/>
              </a:rPr>
              <a:t>Team C</a:t>
            </a:r>
            <a:endParaRPr sz="800" b="0" dirty="0">
              <a:solidFill>
                <a:srgbClr val="67758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77584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81051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5588" y="1810512"/>
            <a:ext cx="16184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200" dirty="0"/>
              <a:t>Core development language</a:t>
            </a:r>
            <a:br>
              <a:rPr lang="en-IN" sz="1200" dirty="0"/>
            </a:br>
            <a:r>
              <a:rPr lang="en-IN" sz="1200" dirty="0"/>
              <a:t>Supports the application/backend logic and AI processing workflow.</a:t>
            </a:r>
            <a:endParaRPr sz="1200" b="0" dirty="0">
              <a:solidFill>
                <a:srgbClr val="2F3B4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83279" y="1645920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66160" y="1810512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1" y="1810512"/>
            <a:ext cx="16184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 err="1">
                <a:solidFill>
                  <a:srgbClr val="182A40"/>
                </a:solidFill>
                <a:latin typeface="Aptos"/>
              </a:rPr>
              <a:t>Streamlit</a:t>
            </a:r>
            <a:endParaRPr sz="16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1879" y="2331720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200" dirty="0"/>
              <a:t>Web application framework</a:t>
            </a:r>
          </a:p>
          <a:p>
            <a:r>
              <a:rPr lang="en-IN" sz="1200" dirty="0"/>
              <a:t>Provides the interactive application interface and dashboard.</a:t>
            </a:r>
            <a:endParaRPr sz="1200" b="0" dirty="0">
              <a:solidFill>
                <a:srgbClr val="2F3B48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2200" y="1645920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55080" y="181051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1810512"/>
            <a:ext cx="16184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NLP Libraries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20574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200" dirty="0"/>
              <a:t>Text processing</a:t>
            </a:r>
            <a:br>
              <a:rPr lang="en-IN" sz="1200" dirty="0"/>
            </a:br>
            <a:r>
              <a:rPr lang="en-IN" sz="1200" dirty="0"/>
              <a:t>Supports resume text extraction and processing.</a:t>
            </a:r>
            <a:endParaRPr sz="1200" b="0" dirty="0">
              <a:solidFill>
                <a:srgbClr val="2F3B48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961119" y="1645920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3999" y="1810512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1" y="1810512"/>
            <a:ext cx="16184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Generative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331720"/>
            <a:ext cx="20574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200" dirty="0"/>
              <a:t>AI-powered analysis</a:t>
            </a:r>
          </a:p>
          <a:p>
            <a:r>
              <a:rPr lang="en-IN" sz="1200" dirty="0"/>
              <a:t>Supports candidate analysis, scoring, and evaluation.</a:t>
            </a:r>
            <a:endParaRPr sz="1200" b="0" dirty="0">
              <a:solidFill>
                <a:srgbClr val="2F3B48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" y="3611880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7240" y="377647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3776472"/>
            <a:ext cx="16184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Llama 3.2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97680"/>
            <a:ext cx="20574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 dirty="0"/>
              <a:t>Local LLM runtime</a:t>
            </a:r>
            <a:br>
              <a:rPr lang="en-US" sz="1200" dirty="0"/>
            </a:br>
            <a:r>
              <a:rPr lang="en-US" sz="1200" dirty="0"/>
              <a:t>Enables local execution of the Llama 3.2 model.</a:t>
            </a:r>
            <a:endParaRPr lang="en-US" sz="1200" dirty="0">
              <a:solidFill>
                <a:srgbClr val="2F3B48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319273" y="3611880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566160" y="3776472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1" y="3776472"/>
            <a:ext cx="16184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SQLite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79" y="4297680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 dirty="0"/>
              <a:t>Data storage</a:t>
            </a:r>
            <a:br>
              <a:rPr lang="en-US" sz="1200" dirty="0"/>
            </a:br>
            <a:r>
              <a:rPr lang="en-US" sz="1200" dirty="0"/>
              <a:t>Stores application, candidate, resume, and analysis-related information.</a:t>
            </a:r>
            <a:endParaRPr lang="en-US" sz="1200" dirty="0">
              <a:solidFill>
                <a:srgbClr val="2F3B48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72200" y="3611880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Oval 32"/>
          <p:cNvSpPr/>
          <p:nvPr/>
        </p:nvSpPr>
        <p:spPr>
          <a:xfrm>
            <a:off x="6355080" y="377647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3776472"/>
            <a:ext cx="16184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GitHub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97680"/>
            <a:ext cx="20574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200" dirty="0"/>
              <a:t>Source control</a:t>
            </a:r>
            <a:br>
              <a:rPr lang="en-IN" sz="1200" dirty="0"/>
            </a:br>
            <a:r>
              <a:rPr lang="en-IN" sz="1200" dirty="0"/>
              <a:t>Used for project source-code management.</a:t>
            </a:r>
            <a:endParaRPr sz="1200" b="0" dirty="0">
              <a:solidFill>
                <a:srgbClr val="2F3B48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961119" y="3611880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143999" y="3776472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1" y="3776472"/>
            <a:ext cx="16184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VS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4298172"/>
            <a:ext cx="20574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200" dirty="0"/>
              <a:t>Development environment</a:t>
            </a:r>
            <a:br>
              <a:rPr lang="en-IN" sz="1200" dirty="0"/>
            </a:br>
            <a:r>
              <a:rPr lang="en-IN" sz="1200" dirty="0"/>
              <a:t>Used for project development and implementation.</a:t>
            </a:r>
            <a:endParaRPr sz="1200" b="0" dirty="0">
              <a:solidFill>
                <a:srgbClr val="2F3B48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052560" y="5715000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endParaRPr sz="1200" b="1" dirty="0">
              <a:solidFill>
                <a:srgbClr val="1B9189"/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A5F679-34AF-A3A0-8E81-D42316C3F3A8}"/>
              </a:ext>
            </a:extLst>
          </p:cNvPr>
          <p:cNvSpPr txBox="1"/>
          <p:nvPr/>
        </p:nvSpPr>
        <p:spPr>
          <a:xfrm>
            <a:off x="2347943" y="5638056"/>
            <a:ext cx="72227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    →     APPLICATION     →     AI / NLP     →    DATA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99DDE4C-D1C1-52A1-B53F-5B61BF83689D}"/>
              </a:ext>
            </a:extLst>
          </p:cNvPr>
          <p:cNvSpPr/>
          <p:nvPr/>
        </p:nvSpPr>
        <p:spPr>
          <a:xfrm>
            <a:off x="2263139" y="5484389"/>
            <a:ext cx="6903720" cy="562472"/>
          </a:xfrm>
          <a:prstGeom prst="round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b="1" dirty="0"/>
          </a:p>
          <a:p>
            <a:r>
              <a:rPr lang="en-IN" sz="1400" b="1" dirty="0">
                <a:solidFill>
                  <a:schemeClr val="accent5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        DEVELOPMENT      →       APPLICATION      →      AI / NLP     →      DATA</a:t>
            </a:r>
            <a:endParaRPr lang="en-IN" sz="1400" dirty="0">
              <a:solidFill>
                <a:schemeClr val="accent5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2468B8"/>
                </a:solidFill>
                <a:latin typeface="Aptos"/>
              </a:rPr>
              <a:t>PLATFORM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82A40"/>
                </a:solidFill>
                <a:latin typeface="Aptos"/>
              </a:rPr>
              <a:t>Core Feature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>
                <a:solidFill>
                  <a:srgbClr val="677584"/>
                </a:solidFill>
                <a:latin typeface="Aptos"/>
              </a:rPr>
              <a:t>AI-Driven Smart Hiring Platform  •  </a:t>
            </a:r>
            <a:r>
              <a:rPr lang="en-IN" sz="800" dirty="0">
                <a:solidFill>
                  <a:srgbClr val="677584"/>
                </a:solidFill>
                <a:latin typeface="Aptos"/>
              </a:rPr>
              <a:t>Team C</a:t>
            </a:r>
            <a:endParaRPr sz="800" b="0" dirty="0">
              <a:solidFill>
                <a:srgbClr val="67758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77584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340156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3401568" cy="109728"/>
          </a:xfrm>
          <a:prstGeom prst="rect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965960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RECRUITMENT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" y="2606040"/>
            <a:ext cx="292608" cy="292608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07592" y="2596896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2F3B48"/>
                </a:solidFill>
                <a:latin typeface="Aptos"/>
              </a:rPr>
              <a:t>Dashboard Overview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" y="3319272"/>
            <a:ext cx="292608" cy="292608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07592" y="3310128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2F3B48"/>
                </a:solidFill>
                <a:latin typeface="Aptos"/>
              </a:rPr>
              <a:t>Job Openings Portal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" y="4032504"/>
            <a:ext cx="292608" cy="292608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07592" y="4023360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2F3B48"/>
                </a:solidFill>
                <a:latin typeface="Aptos"/>
              </a:rPr>
              <a:t>AI Resume Analyzer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4745736"/>
            <a:ext cx="292608" cy="292608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07592" y="4736592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2F3B48"/>
                </a:solidFill>
                <a:latin typeface="Aptos"/>
              </a:rPr>
              <a:t>Candidate Screening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645920"/>
            <a:ext cx="340156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1645920"/>
            <a:ext cx="3401568" cy="109728"/>
          </a:xfrm>
          <a:prstGeom prst="rect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9432" y="1965960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INTERVIEW ENGINE</a:t>
            </a:r>
          </a:p>
        </p:txBody>
      </p:sp>
      <p:sp>
        <p:nvSpPr>
          <p:cNvPr id="22" name="Oval 21"/>
          <p:cNvSpPr/>
          <p:nvPr/>
        </p:nvSpPr>
        <p:spPr>
          <a:xfrm>
            <a:off x="4599432" y="2606040"/>
            <a:ext cx="292608" cy="292608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56632" y="2596896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2F3B48"/>
                </a:solidFill>
                <a:latin typeface="Aptos"/>
              </a:rPr>
              <a:t>Live Interview Copilot</a:t>
            </a:r>
          </a:p>
        </p:txBody>
      </p:sp>
      <p:sp>
        <p:nvSpPr>
          <p:cNvPr id="24" name="Oval 23"/>
          <p:cNvSpPr/>
          <p:nvPr/>
        </p:nvSpPr>
        <p:spPr>
          <a:xfrm>
            <a:off x="4599432" y="3319272"/>
            <a:ext cx="292608" cy="292608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56632" y="3310128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2F3B48"/>
                </a:solidFill>
                <a:latin typeface="Aptos"/>
              </a:rPr>
              <a:t>Interview Stage Tracker</a:t>
            </a:r>
          </a:p>
        </p:txBody>
      </p:sp>
      <p:sp>
        <p:nvSpPr>
          <p:cNvPr id="26" name="Oval 25"/>
          <p:cNvSpPr/>
          <p:nvPr/>
        </p:nvSpPr>
        <p:spPr>
          <a:xfrm>
            <a:off x="4599432" y="4032504"/>
            <a:ext cx="292608" cy="292608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56632" y="4023360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2F3B48"/>
                </a:solidFill>
                <a:latin typeface="Aptos"/>
              </a:rPr>
              <a:t>AI Interview Assistant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645920"/>
            <a:ext cx="340156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92440" y="1645920"/>
            <a:ext cx="3401568" cy="109728"/>
          </a:xfrm>
          <a:prstGeom prst="rect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48471" y="1965960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HIRING WORKFLOW</a:t>
            </a:r>
          </a:p>
        </p:txBody>
      </p:sp>
      <p:sp>
        <p:nvSpPr>
          <p:cNvPr id="31" name="Oval 30"/>
          <p:cNvSpPr/>
          <p:nvPr/>
        </p:nvSpPr>
        <p:spPr>
          <a:xfrm>
            <a:off x="8348471" y="2606040"/>
            <a:ext cx="292608" cy="292608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05672" y="2596896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2F3B48"/>
                </a:solidFill>
                <a:latin typeface="Aptos"/>
              </a:rPr>
              <a:t>Automated Onboarding</a:t>
            </a:r>
          </a:p>
        </p:txBody>
      </p:sp>
      <p:sp>
        <p:nvSpPr>
          <p:cNvPr id="33" name="Oval 32"/>
          <p:cNvSpPr/>
          <p:nvPr/>
        </p:nvSpPr>
        <p:spPr>
          <a:xfrm>
            <a:off x="8348471" y="3319272"/>
            <a:ext cx="292608" cy="292608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05672" y="3310128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2F3B48"/>
                </a:solidFill>
                <a:latin typeface="Aptos"/>
              </a:rPr>
              <a:t>Hiring Analytics</a:t>
            </a:r>
          </a:p>
        </p:txBody>
      </p:sp>
      <p:sp>
        <p:nvSpPr>
          <p:cNvPr id="35" name="Oval 34"/>
          <p:cNvSpPr/>
          <p:nvPr/>
        </p:nvSpPr>
        <p:spPr>
          <a:xfrm>
            <a:off x="8348471" y="4032504"/>
            <a:ext cx="292608" cy="292608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05672" y="4023360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2F3B48"/>
                </a:solidFill>
                <a:latin typeface="Aptos"/>
              </a:rPr>
              <a:t>System Settings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2468B8"/>
                </a:solidFill>
                <a:latin typeface="Aptos"/>
              </a:rPr>
              <a:t>UNIQUE SELLING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82A40"/>
                </a:solidFill>
                <a:latin typeface="Aptos"/>
              </a:rPr>
              <a:t>Why the Copilot Stands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>
                <a:solidFill>
                  <a:srgbClr val="677584"/>
                </a:solidFill>
                <a:latin typeface="Aptos"/>
              </a:rPr>
              <a:t>AI-Driven Smart Hiring Platform  •  </a:t>
            </a:r>
            <a:r>
              <a:rPr lang="en-IN" sz="800" dirty="0">
                <a:solidFill>
                  <a:srgbClr val="677584"/>
                </a:solidFill>
                <a:latin typeface="Aptos"/>
              </a:rPr>
              <a:t>Team C</a:t>
            </a:r>
            <a:endParaRPr sz="800" b="0" dirty="0">
              <a:solidFill>
                <a:srgbClr val="67758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77584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176479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764792"/>
            <a:ext cx="431596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End-to-End AI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2F3B48"/>
                </a:solidFill>
                <a:latin typeface="Aptos"/>
              </a:rPr>
              <a:t>Resume ingestion → screening → interview assistance → onboarding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1764792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764792"/>
            <a:ext cx="431596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Contextual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2F3B48"/>
                </a:solidFill>
                <a:latin typeface="Aptos"/>
              </a:rPr>
              <a:t>Semantic evaluation of candidate experience against dynamic job 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59" y="309067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090672"/>
            <a:ext cx="431596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Real-Time Interview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61188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2F3B48"/>
                </a:solidFill>
                <a:latin typeface="Aptos"/>
              </a:rPr>
              <a:t>Tailored probing questions and dynamic answer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92608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46520" y="3090672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3090672"/>
            <a:ext cx="431596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Unified Hiring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1188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2F3B48"/>
                </a:solidFill>
                <a:latin typeface="Aptos"/>
              </a:rPr>
              <a:t>Candidate funnel metrics and objective scoring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5196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959" y="441655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416552"/>
            <a:ext cx="431596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Local Privacy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3776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2F3B48"/>
                </a:solidFill>
                <a:latin typeface="Aptos"/>
              </a:rPr>
              <a:t>Local LLM processing through </a:t>
            </a:r>
            <a:r>
              <a:rPr sz="1200" b="0" dirty="0" err="1">
                <a:solidFill>
                  <a:srgbClr val="2F3B48"/>
                </a:solidFill>
                <a:latin typeface="Aptos"/>
              </a:rPr>
              <a:t>Ollama</a:t>
            </a:r>
            <a:r>
              <a:rPr sz="1200" b="0" dirty="0">
                <a:solidFill>
                  <a:srgbClr val="2F3B48"/>
                </a:solidFill>
                <a:latin typeface="Aptos"/>
              </a:rPr>
              <a:t> and Llama 3.2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2468B8"/>
                </a:solidFill>
                <a:latin typeface="Aptos"/>
              </a:rP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82A40"/>
                </a:solidFill>
                <a:latin typeface="Aptos"/>
              </a:rPr>
              <a:t>Future Enhancements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>
                <a:solidFill>
                  <a:srgbClr val="677584"/>
                </a:solidFill>
                <a:latin typeface="Aptos"/>
              </a:rPr>
              <a:t>AI-Driven Smart Hiring Platform  •  </a:t>
            </a:r>
            <a:r>
              <a:rPr lang="en-IN" sz="800" dirty="0">
                <a:solidFill>
                  <a:srgbClr val="677584"/>
                </a:solidFill>
                <a:latin typeface="Aptos"/>
              </a:rPr>
              <a:t>Team C</a:t>
            </a:r>
            <a:endParaRPr sz="800" b="0" dirty="0">
              <a:solidFill>
                <a:srgbClr val="67758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77584"/>
                </a:solidFill>
                <a:latin typeface="Aptos"/>
              </a:rPr>
              <a:t>09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520440"/>
            <a:ext cx="10058400" cy="0"/>
          </a:xfrm>
          <a:prstGeom prst="line">
            <a:avLst/>
          </a:prstGeom>
          <a:ln w="50800">
            <a:solidFill>
              <a:srgbClr val="D2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435607" y="3218688"/>
            <a:ext cx="594360" cy="59436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64792"/>
            <a:ext cx="164591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Voice AI Recruiter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6459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Automated initial screening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2103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dirty="0">
                <a:solidFill>
                  <a:srgbClr val="2F3B48"/>
                </a:solidFill>
                <a:latin typeface="Aptos"/>
              </a:rPr>
              <a:t>Automated initial screening calls</a:t>
            </a:r>
          </a:p>
        </p:txBody>
      </p:sp>
      <p:sp>
        <p:nvSpPr>
          <p:cNvPr id="14" name="Oval 13"/>
          <p:cNvSpPr/>
          <p:nvPr/>
        </p:nvSpPr>
        <p:spPr>
          <a:xfrm>
            <a:off x="3703320" y="3218688"/>
            <a:ext cx="594360" cy="59436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160020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82112" y="1764792"/>
            <a:ext cx="164591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Predictive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2286000"/>
            <a:ext cx="16459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Long-term candidate success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4160520"/>
            <a:ext cx="2103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dirty="0">
                <a:solidFill>
                  <a:srgbClr val="2F3B48"/>
                </a:solidFill>
                <a:latin typeface="Aptos"/>
              </a:rPr>
              <a:t>Long-term candidate success signals</a:t>
            </a:r>
          </a:p>
        </p:txBody>
      </p:sp>
      <p:sp>
        <p:nvSpPr>
          <p:cNvPr id="19" name="Oval 18"/>
          <p:cNvSpPr/>
          <p:nvPr/>
        </p:nvSpPr>
        <p:spPr>
          <a:xfrm>
            <a:off x="5971032" y="3218688"/>
            <a:ext cx="594360" cy="59436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21224" y="160020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9824" y="1764792"/>
            <a:ext cx="164591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Cloud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2286000"/>
            <a:ext cx="16459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Scalable AWS / Docker 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4160520"/>
            <a:ext cx="2103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dirty="0">
                <a:solidFill>
                  <a:srgbClr val="2F3B48"/>
                </a:solidFill>
                <a:latin typeface="Aptos"/>
              </a:rPr>
              <a:t>Scalable AWS / Docker infrastructure</a:t>
            </a:r>
          </a:p>
        </p:txBody>
      </p:sp>
      <p:sp>
        <p:nvSpPr>
          <p:cNvPr id="24" name="Oval 23"/>
          <p:cNvSpPr/>
          <p:nvPr/>
        </p:nvSpPr>
        <p:spPr>
          <a:xfrm>
            <a:off x="8238744" y="3218688"/>
            <a:ext cx="594360" cy="59436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88936" y="160020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17536" y="1764792"/>
            <a:ext cx="164591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Job Portal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6" y="2286000"/>
            <a:ext cx="16459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External job-board synchronization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4160520"/>
            <a:ext cx="2103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dirty="0">
                <a:solidFill>
                  <a:srgbClr val="2F3B48"/>
                </a:solidFill>
                <a:latin typeface="Aptos"/>
              </a:rPr>
              <a:t>External job-board synchronization</a:t>
            </a:r>
          </a:p>
        </p:txBody>
      </p:sp>
      <p:sp>
        <p:nvSpPr>
          <p:cNvPr id="29" name="Oval 28"/>
          <p:cNvSpPr/>
          <p:nvPr/>
        </p:nvSpPr>
        <p:spPr>
          <a:xfrm>
            <a:off x="10675620" y="3223260"/>
            <a:ext cx="594360" cy="59436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56648" y="160020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85248" y="1764792"/>
            <a:ext cx="164591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Real-Time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2286000"/>
            <a:ext cx="16459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Event-driven recruiter 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4160520"/>
            <a:ext cx="2103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dirty="0">
                <a:solidFill>
                  <a:srgbClr val="2F3B48"/>
                </a:solidFill>
                <a:latin typeface="Aptos"/>
              </a:rPr>
              <a:t>Event-driven recruiter 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66360"/>
            <a:ext cx="1024128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dirty="0">
                <a:solidFill>
                  <a:srgbClr val="182A40"/>
                </a:solidFill>
                <a:latin typeface="Aptos"/>
              </a:rPr>
              <a:t>Roadmap direction: expand automation, scalability, integration, and real-time decision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468B8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82A40"/>
                </a:solidFill>
                <a:latin typeface="Aptos"/>
              </a:rPr>
              <a:t>Smarter hiring, from resume to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7955279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2F3B48"/>
                </a:solidFill>
                <a:latin typeface="Aptos"/>
              </a:rPr>
              <a:t>The platform brings AI-assisted resume analysis, candidate matching, and interview support into one streamlined workflow</a:t>
            </a:r>
            <a:r>
              <a:rPr lang="en-IN" sz="1500" dirty="0">
                <a:solidFill>
                  <a:srgbClr val="2F3B48"/>
                </a:solidFill>
                <a:latin typeface="Aptos"/>
              </a:rPr>
              <a:t>, </a:t>
            </a:r>
            <a:r>
              <a:rPr sz="1500" b="0" dirty="0">
                <a:solidFill>
                  <a:srgbClr val="2F3B48"/>
                </a:solidFill>
                <a:latin typeface="Aptos"/>
              </a:rPr>
              <a:t>reducing repetitive effort while helping teams make more informed hiring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7180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313639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3136392"/>
            <a:ext cx="248716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Reduce Manual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Automate repetitive screening and evaluation 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97180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17720" y="3136392"/>
            <a:ext cx="411480" cy="411480"/>
          </a:xfrm>
          <a:prstGeom prst="ellipse">
            <a:avLst/>
          </a:prstGeom>
          <a:solidFill>
            <a:srgbClr val="1B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3136392"/>
            <a:ext cx="2487168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Improve Candidate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00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Use contextual matching to support better shortlisting.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97180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66759" y="3136392"/>
            <a:ext cx="411480" cy="411480"/>
          </a:xfrm>
          <a:prstGeom prst="ellipse">
            <a:avLst/>
          </a:prstGeom>
          <a:solidFill>
            <a:srgbClr val="24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3136392"/>
            <a:ext cx="248716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Support Better Interviews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657600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2F3B48"/>
                </a:solidFill>
                <a:latin typeface="Aptos"/>
              </a:rPr>
              <a:t>Provide AI assistance across the interview lifecycle.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166360"/>
            <a:ext cx="10652760" cy="713232"/>
          </a:xfrm>
          <a:prstGeom prst="round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376672"/>
            <a:ext cx="102412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AI-Driven Smart Hiring Platform with Candidate Matching Copilot  •  </a:t>
            </a:r>
            <a:r>
              <a:rPr lang="en-IN" sz="1600" b="1" dirty="0">
                <a:solidFill>
                  <a:srgbClr val="FFFFFF"/>
                </a:solidFill>
                <a:latin typeface="Aptos"/>
              </a:rPr>
              <a:t>Team C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5632" y="61722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677584"/>
                </a:solidFill>
                <a:latin typeface="Aptos"/>
              </a:rPr>
              <a:t>INFOSYS SPRINGBOARD PROJECT SHOWCASE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3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17164" y="120789"/>
            <a:ext cx="3174836" cy="2967474"/>
          </a:xfrm>
          <a:prstGeom prst="ellipse">
            <a:avLst/>
          </a:prstGeom>
          <a:solidFill>
            <a:srgbClr val="E1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7462" y="2411853"/>
            <a:ext cx="1129233" cy="1197864"/>
          </a:xfrm>
          <a:prstGeom prst="ellipse">
            <a:avLst/>
          </a:prstGeom>
          <a:solidFill>
            <a:srgbClr val="CED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98280" y="4270248"/>
            <a:ext cx="1786030" cy="1673352"/>
          </a:xfrm>
          <a:prstGeom prst="ellipse">
            <a:avLst/>
          </a:prstGeom>
          <a:solidFill>
            <a:srgbClr val="E1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234D6E"/>
                </a:solidFill>
                <a:latin typeface="Aptos Display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95527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2A3440"/>
                </a:solidFill>
                <a:latin typeface="Aptos"/>
              </a:rPr>
              <a:t>AI-Driven Smart Hiring Platform</a:t>
            </a:r>
          </a:p>
          <a:p>
            <a:r>
              <a:rPr sz="2100">
                <a:solidFill>
                  <a:srgbClr val="505C69"/>
                </a:solidFill>
                <a:latin typeface="Aptos"/>
              </a:rPr>
              <a:t>with Candidate Matching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F6974"/>
                </a:solidFill>
                <a:latin typeface="Aptos"/>
              </a:rPr>
              <a:t>TEAM C  •  INFOSYS SPRINGBOARD PROJECT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989320"/>
            <a:ext cx="10241280" cy="18288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C75A56F-3A99-42C1-764C-08A40C047ABA}"/>
              </a:ext>
            </a:extLst>
          </p:cNvPr>
          <p:cNvSpPr/>
          <p:nvPr/>
        </p:nvSpPr>
        <p:spPr>
          <a:xfrm>
            <a:off x="8686800" y="5276088"/>
            <a:ext cx="760525" cy="66751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1046</Words>
  <Application>Microsoft Office PowerPoint</Application>
  <PresentationFormat>Widescreen</PresentationFormat>
  <Paragraphs>248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Arial Narrow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lolli pop</dc:creator>
  <cp:keywords/>
  <dc:description>generated using python-pptx</dc:description>
  <cp:lastModifiedBy>Tanvi Gaonkhadkar</cp:lastModifiedBy>
  <cp:revision>7</cp:revision>
  <dcterms:created xsi:type="dcterms:W3CDTF">2013-01-27T09:14:16Z</dcterms:created>
  <dcterms:modified xsi:type="dcterms:W3CDTF">2026-08-22T12:03:25Z</dcterms:modified>
  <cp:category/>
</cp:coreProperties>
</file>